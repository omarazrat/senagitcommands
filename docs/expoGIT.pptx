
<file path=[Content_Types].xml><?xml version="1.0" encoding="utf-8"?>
<Types xmlns="http://schemas.openxmlformats.org/package/2006/content-types">
  <Default Extension="jpeg" ContentType="image/jpeg"/>
  <Default Extension="png" ContentType="image/png"/>
  <Default Extension="QFwMPqpTx2th1Zfxrk2PwwHaHa" ContentType="image/jpe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8" r:id="rId4"/>
    <p:sldId id="266" r:id="rId5"/>
    <p:sldId id="267" r:id="rId6"/>
    <p:sldId id="257" r:id="rId7"/>
    <p:sldId id="261" r:id="rId8"/>
    <p:sldId id="258" r:id="rId9"/>
    <p:sldId id="262" r:id="rId10"/>
    <p:sldId id="259" r:id="rId11"/>
    <p:sldId id="260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55765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69547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s-CO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63396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61847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81785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157772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32347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255495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78971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039512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51546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11F1AB65-ED12-48A5-B6DA-9AD91D1BD1F0}" type="datetimeFigureOut">
              <a:rPr lang="es-CO" smtClean="0"/>
              <a:t>18/09/2026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s-CO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36DE4F9D-57CD-4FDA-BF2D-60B37CCD6CA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43757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QFwMPqpTx2th1Zfxrk2PwwHaHa"/><Relationship Id="rId2" Type="http://schemas.openxmlformats.org/officeDocument/2006/relationships/hyperlink" Target="https://github.com/omarazrat/SENAGitCommands.git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QFwMPqpTx2th1Zfxrk2PwwHaHa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QFwMPqpTx2th1Zfxrk2PwwHaHa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QFwMPqpTx2th1Zfxrk2PwwHaHa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QFwMPqpTx2th1Zfxrk2PwwHaHa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QFwMPqpTx2th1Zfxrk2PwwHaHa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QFwMPqpTx2th1Zfxrk2PwwHaHa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QFwMPqpTx2th1Zfxrk2PwwHaHa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QFwMPqpTx2th1Zfxrk2PwwHaHa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QFwMPqpTx2th1Zfxrk2PwwHaHa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QFwMPqpTx2th1Zfxrk2PwwHaHa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tint val="75000"/>
                <a:shade val="58000"/>
                <a:satMod val="120000"/>
              </a:schemeClr>
              <a:schemeClr val="bg1">
                <a:tint val="50000"/>
                <a:shade val="96000"/>
              </a:schemeClr>
            </a:duotone>
          </a:blip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A0E4E09-FC02-4ADC-951A-3FFA90B6F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65456C6-BF88-6D78-F0A0-CE9B718EFF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56100" y="1360493"/>
            <a:ext cx="4972511" cy="3106732"/>
          </a:xfrm>
        </p:spPr>
        <p:txBody>
          <a:bodyPr anchor="b">
            <a:normAutofit/>
          </a:bodyPr>
          <a:lstStyle/>
          <a:p>
            <a:r>
              <a:rPr lang="es-CO" sz="7200">
                <a:solidFill>
                  <a:schemeClr val="tx1"/>
                </a:solidFill>
              </a:rPr>
              <a:t>Todo lo que siempre quiso saber de Git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8592808-5C1F-F68F-26D5-F19F8901D5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56100" y="4687316"/>
            <a:ext cx="4972512" cy="1517088"/>
          </a:xfrm>
        </p:spPr>
        <p:txBody>
          <a:bodyPr>
            <a:normAutofit/>
          </a:bodyPr>
          <a:lstStyle/>
          <a:p>
            <a:r>
              <a:rPr lang="es-CO">
                <a:solidFill>
                  <a:srgbClr val="FFFFFF"/>
                </a:solidFill>
              </a:rPr>
              <a:t>*y nunca se atrevió a preguntar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A1598B-1957-47CF-AAF4-F7A36DA0E7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3"/>
            <a:ext cx="6095695" cy="6857997"/>
          </a:xfrm>
          <a:custGeom>
            <a:avLst/>
            <a:gdLst>
              <a:gd name="connsiteX0" fmla="*/ 3435036 w 6095695"/>
              <a:gd name="connsiteY0" fmla="*/ 0 h 6857997"/>
              <a:gd name="connsiteX1" fmla="*/ 4198562 w 6095695"/>
              <a:gd name="connsiteY1" fmla="*/ 0 h 6857997"/>
              <a:gd name="connsiteX2" fmla="*/ 4365987 w 6095695"/>
              <a:gd name="connsiteY2" fmla="*/ 128761 h 6857997"/>
              <a:gd name="connsiteX3" fmla="*/ 6095695 w 6095695"/>
              <a:gd name="connsiteY3" fmla="*/ 3718209 h 6857997"/>
              <a:gd name="connsiteX4" fmla="*/ 4860911 w 6095695"/>
              <a:gd name="connsiteY4" fmla="*/ 6845880 h 6857997"/>
              <a:gd name="connsiteX5" fmla="*/ 4849107 w 6095695"/>
              <a:gd name="connsiteY5" fmla="*/ 6857997 h 6857997"/>
              <a:gd name="connsiteX6" fmla="*/ 4253869 w 6095695"/>
              <a:gd name="connsiteY6" fmla="*/ 6857997 h 6857997"/>
              <a:gd name="connsiteX7" fmla="*/ 4409441 w 6095695"/>
              <a:gd name="connsiteY7" fmla="*/ 6719623 h 6857997"/>
              <a:gd name="connsiteX8" fmla="*/ 5679794 w 6095695"/>
              <a:gd name="connsiteY8" fmla="*/ 3718209 h 6857997"/>
              <a:gd name="connsiteX9" fmla="*/ 3591563 w 6095695"/>
              <a:gd name="connsiteY9" fmla="*/ 88079 h 6857997"/>
              <a:gd name="connsiteX10" fmla="*/ 0 w 6095695"/>
              <a:gd name="connsiteY10" fmla="*/ 0 h 6857997"/>
              <a:gd name="connsiteX11" fmla="*/ 3177466 w 6095695"/>
              <a:gd name="connsiteY11" fmla="*/ 0 h 6857997"/>
              <a:gd name="connsiteX12" fmla="*/ 3353291 w 6095695"/>
              <a:gd name="connsiteY12" fmla="*/ 88129 h 6857997"/>
              <a:gd name="connsiteX13" fmla="*/ 5560965 w 6095695"/>
              <a:gd name="connsiteY13" fmla="*/ 3718209 h 6857997"/>
              <a:gd name="connsiteX14" fmla="*/ 4325417 w 6095695"/>
              <a:gd name="connsiteY14" fmla="*/ 6637392 h 6857997"/>
              <a:gd name="connsiteX15" fmla="*/ 4077394 w 6095695"/>
              <a:gd name="connsiteY15" fmla="*/ 6857997 h 6857997"/>
              <a:gd name="connsiteX16" fmla="*/ 0 w 6095695"/>
              <a:gd name="connsiteY16" fmla="*/ 6857997 h 685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95695" h="6857997">
                <a:moveTo>
                  <a:pt x="3435036" y="0"/>
                </a:moveTo>
                <a:lnTo>
                  <a:pt x="4198562" y="0"/>
                </a:lnTo>
                <a:lnTo>
                  <a:pt x="4365987" y="128761"/>
                </a:lnTo>
                <a:cubicBezTo>
                  <a:pt x="5422363" y="981944"/>
                  <a:pt x="6095695" y="2273123"/>
                  <a:pt x="6095695" y="3718209"/>
                </a:cubicBezTo>
                <a:cubicBezTo>
                  <a:pt x="6095695" y="4922447"/>
                  <a:pt x="5628104" y="6019805"/>
                  <a:pt x="4860911" y="6845880"/>
                </a:cubicBezTo>
                <a:lnTo>
                  <a:pt x="4849107" y="6857997"/>
                </a:lnTo>
                <a:lnTo>
                  <a:pt x="4253869" y="6857997"/>
                </a:lnTo>
                <a:lnTo>
                  <a:pt x="4409441" y="6719623"/>
                </a:lnTo>
                <a:cubicBezTo>
                  <a:pt x="5194330" y="5951494"/>
                  <a:pt x="5679794" y="4890334"/>
                  <a:pt x="5679794" y="3718209"/>
                </a:cubicBezTo>
                <a:cubicBezTo>
                  <a:pt x="5679794" y="2179795"/>
                  <a:pt x="4843506" y="832535"/>
                  <a:pt x="3591563" y="88079"/>
                </a:cubicBezTo>
                <a:close/>
                <a:moveTo>
                  <a:pt x="0" y="0"/>
                </a:moveTo>
                <a:lnTo>
                  <a:pt x="3177466" y="0"/>
                </a:lnTo>
                <a:lnTo>
                  <a:pt x="3353291" y="88129"/>
                </a:lnTo>
                <a:cubicBezTo>
                  <a:pt x="4668281" y="787221"/>
                  <a:pt x="5560965" y="2150692"/>
                  <a:pt x="5560965" y="3718209"/>
                </a:cubicBezTo>
                <a:cubicBezTo>
                  <a:pt x="5560965" y="4858221"/>
                  <a:pt x="5088802" y="5890308"/>
                  <a:pt x="4325417" y="6637392"/>
                </a:cubicBezTo>
                <a:lnTo>
                  <a:pt x="4077394" y="6857997"/>
                </a:lnTo>
                <a:lnTo>
                  <a:pt x="0" y="685799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CDB9775-6DB8-653D-BA04-3884B8EA86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150" y="1526651"/>
            <a:ext cx="3804698" cy="3804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0417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1256FB-3F5C-F4DD-C1EF-3A353222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Ejercicio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67D363B-5CBE-3AAD-CEBD-71464EAB3844}"/>
              </a:ext>
            </a:extLst>
          </p:cNvPr>
          <p:cNvSpPr txBox="1"/>
          <p:nvPr/>
        </p:nvSpPr>
        <p:spPr>
          <a:xfrm>
            <a:off x="1300480" y="2367280"/>
            <a:ext cx="8026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Con su herramienta favorita descargue el repositorio de </a:t>
            </a:r>
            <a:r>
              <a:rPr lang="es-CO" dirty="0" err="1"/>
              <a:t>github</a:t>
            </a:r>
            <a:br>
              <a:rPr lang="es-CO" dirty="0"/>
            </a:br>
            <a:r>
              <a:rPr lang="es-CO" dirty="0">
                <a:hlinkClick r:id="rId2"/>
              </a:rPr>
              <a:t>https://github.com/omarazrat/SENAGitCommands.git</a:t>
            </a:r>
            <a:br>
              <a:rPr lang="es-CO" dirty="0"/>
            </a:br>
            <a:r>
              <a:rPr lang="es-CO" dirty="0"/>
              <a:t>opciones:</a:t>
            </a:r>
            <a:br>
              <a:rPr lang="es-CO" dirty="0"/>
            </a:br>
            <a:r>
              <a:rPr lang="es-CO" dirty="0" err="1"/>
              <a:t>gh</a:t>
            </a:r>
            <a:r>
              <a:rPr lang="es-CO" dirty="0"/>
              <a:t> repo clone </a:t>
            </a:r>
            <a:r>
              <a:rPr lang="es-CO" dirty="0" err="1"/>
              <a:t>omarazrat</a:t>
            </a:r>
            <a:r>
              <a:rPr lang="es-CO" dirty="0"/>
              <a:t>/</a:t>
            </a:r>
            <a:r>
              <a:rPr lang="es-CO" dirty="0" err="1"/>
              <a:t>SENAGitCommands</a:t>
            </a:r>
            <a:endParaRPr lang="es-CO" dirty="0"/>
          </a:p>
        </p:txBody>
      </p:sp>
      <p:pic>
        <p:nvPicPr>
          <p:cNvPr id="12" name="Imagen 11" descr="My Sena: Logotipo del sena">
            <a:extLst>
              <a:ext uri="{FF2B5EF4-FFF2-40B4-BE49-F238E27FC236}">
                <a16:creationId xmlns:a16="http://schemas.microsoft.com/office/drawing/2014/main" id="{351A4402-8A9A-8CAC-6DF6-1C59B6F96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4449" y="185270"/>
            <a:ext cx="779930" cy="779930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1C4C715D-8BC3-A451-1811-908DA22E97FC}"/>
              </a:ext>
            </a:extLst>
          </p:cNvPr>
          <p:cNvSpPr txBox="1"/>
          <p:nvPr/>
        </p:nvSpPr>
        <p:spPr>
          <a:xfrm>
            <a:off x="1300480" y="6188702"/>
            <a:ext cx="10058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CO" dirty="0"/>
              <a:t>Nestor Arias - Instructor</a:t>
            </a:r>
          </a:p>
        </p:txBody>
      </p:sp>
    </p:spTree>
    <p:extLst>
      <p:ext uri="{BB962C8B-B14F-4D97-AF65-F5344CB8AC3E}">
        <p14:creationId xmlns:p14="http://schemas.microsoft.com/office/powerpoint/2010/main" val="1928132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1256FB-3F5C-F4DD-C1EF-3A353222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Cambiando de Rama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F4EEB96-7945-634A-0BC2-231DE5C9FB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1692275"/>
            <a:ext cx="9486900" cy="4800600"/>
          </a:xfrm>
          <a:prstGeom prst="rect">
            <a:avLst/>
          </a:prstGeom>
        </p:spPr>
      </p:pic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B906667C-BF7D-DE24-35B3-3AA1004F48D2}"/>
              </a:ext>
            </a:extLst>
          </p:cNvPr>
          <p:cNvSpPr/>
          <p:nvPr/>
        </p:nvSpPr>
        <p:spPr>
          <a:xfrm>
            <a:off x="1569027" y="6068291"/>
            <a:ext cx="810491" cy="571500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A8E60F7E-5289-B97E-4271-A0D0E7CFCEFE}"/>
              </a:ext>
            </a:extLst>
          </p:cNvPr>
          <p:cNvCxnSpPr>
            <a:stCxn id="6" idx="0"/>
          </p:cNvCxnSpPr>
          <p:nvPr/>
        </p:nvCxnSpPr>
        <p:spPr>
          <a:xfrm flipV="1">
            <a:off x="1974273" y="4094480"/>
            <a:ext cx="921327" cy="1973811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Imagen 3" descr="My Sena: Logotipo del sena">
            <a:extLst>
              <a:ext uri="{FF2B5EF4-FFF2-40B4-BE49-F238E27FC236}">
                <a16:creationId xmlns:a16="http://schemas.microsoft.com/office/drawing/2014/main" id="{6BFFDF0A-42E8-EB39-E8A9-3D50CFB5A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4449" y="185270"/>
            <a:ext cx="779930" cy="77993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91016234-A7FB-ACFB-B4AF-6208ADDFEBFC}"/>
              </a:ext>
            </a:extLst>
          </p:cNvPr>
          <p:cNvSpPr txBox="1"/>
          <p:nvPr/>
        </p:nvSpPr>
        <p:spPr>
          <a:xfrm>
            <a:off x="1009650" y="6488064"/>
            <a:ext cx="10058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CO" dirty="0"/>
              <a:t>Nestor Arias - Instructor</a:t>
            </a:r>
          </a:p>
        </p:txBody>
      </p:sp>
    </p:spTree>
    <p:extLst>
      <p:ext uri="{BB962C8B-B14F-4D97-AF65-F5344CB8AC3E}">
        <p14:creationId xmlns:p14="http://schemas.microsoft.com/office/powerpoint/2010/main" val="37781221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1256FB-3F5C-F4DD-C1EF-3A353222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Cambiando de Rama &gt; Ejercicio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599FE9A-BFE6-E31B-CA3A-CE877E0DDB21}"/>
              </a:ext>
            </a:extLst>
          </p:cNvPr>
          <p:cNvSpPr txBox="1"/>
          <p:nvPr/>
        </p:nvSpPr>
        <p:spPr>
          <a:xfrm>
            <a:off x="838200" y="2123440"/>
            <a:ext cx="10104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Cambie a una rama en su carpeta</a:t>
            </a: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D8FFCA9B-A019-64D6-785C-37A93AEEA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5339442"/>
              </p:ext>
            </p:extLst>
          </p:nvPr>
        </p:nvGraphicFramePr>
        <p:xfrm>
          <a:off x="1371600" y="2800775"/>
          <a:ext cx="899160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>
                  <a:extLst>
                    <a:ext uri="{9D8B030D-6E8A-4147-A177-3AD203B41FA5}">
                      <a16:colId xmlns:a16="http://schemas.microsoft.com/office/drawing/2014/main" val="936264787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880646038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03939729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896570384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235322654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11825106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51141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Aleksandr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Artem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Galina</a:t>
                      </a:r>
                      <a:endParaRPr lang="es-CO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Maxim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Svetlana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Zakhar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07889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Alexandra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Danila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Grigory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Mikhail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Timofey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Zinaida</a:t>
                      </a: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9922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Anastasia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Dasha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Iván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Nikita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Vadin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endParaRPr lang="es-CO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71383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Andrei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Dimitry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Kirill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Pavel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Valentina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endParaRPr lang="es-CO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160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Anna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Elena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Makar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Raisa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CO" sz="2000" b="0" i="0" u="none" strike="noStrike">
                          <a:solidFill>
                            <a:srgbClr val="000000"/>
                          </a:solidFill>
                          <a:effectLst/>
                          <a:latin typeface="Arial Unicode MS"/>
                        </a:rPr>
                        <a:t>Viktoria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endParaRPr lang="es-CO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44793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Anton</a:t>
                      </a:r>
                      <a:endParaRPr lang="es-CO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Fedor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Maria</a:t>
                      </a:r>
                      <a:endParaRPr lang="es-CO" sz="20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Roman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CO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Vitali</a:t>
                      </a: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endParaRPr lang="es-CO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8067945"/>
                  </a:ext>
                </a:extLst>
              </a:tr>
            </a:tbl>
          </a:graphicData>
        </a:graphic>
      </p:graphicFrame>
      <p:pic>
        <p:nvPicPr>
          <p:cNvPr id="9" name="Imagen 8" descr="My Sena: Logotipo del sena">
            <a:extLst>
              <a:ext uri="{FF2B5EF4-FFF2-40B4-BE49-F238E27FC236}">
                <a16:creationId xmlns:a16="http://schemas.microsoft.com/office/drawing/2014/main" id="{C04A6BF0-2D75-F95F-DD8C-104941277D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4449" y="185270"/>
            <a:ext cx="779930" cy="779930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7FE6CF1B-EA27-5C49-8C4B-99413B15F521}"/>
              </a:ext>
            </a:extLst>
          </p:cNvPr>
          <p:cNvSpPr txBox="1"/>
          <p:nvPr/>
        </p:nvSpPr>
        <p:spPr>
          <a:xfrm>
            <a:off x="1009650" y="6488064"/>
            <a:ext cx="10058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CO" dirty="0"/>
              <a:t>Nestor Arias - Instructor</a:t>
            </a:r>
          </a:p>
        </p:txBody>
      </p:sp>
    </p:spTree>
    <p:extLst>
      <p:ext uri="{BB962C8B-B14F-4D97-AF65-F5344CB8AC3E}">
        <p14:creationId xmlns:p14="http://schemas.microsoft.com/office/powerpoint/2010/main" val="3994738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1256FB-3F5C-F4DD-C1EF-3A353222C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Cambiando de Rama &gt; Ejercicio 2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599FE9A-BFE6-E31B-CA3A-CE877E0DDB21}"/>
              </a:ext>
            </a:extLst>
          </p:cNvPr>
          <p:cNvSpPr txBox="1"/>
          <p:nvPr/>
        </p:nvSpPr>
        <p:spPr>
          <a:xfrm>
            <a:off x="838200" y="2123440"/>
            <a:ext cx="10104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Descargue cambios desde la rama </a:t>
            </a:r>
            <a:r>
              <a:rPr lang="es-CO" dirty="0" err="1"/>
              <a:t>main</a:t>
            </a:r>
            <a:endParaRPr lang="es-CO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6729210-4F68-A76C-5384-DCBD6C1FC6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500" r="29599" b="71711"/>
          <a:stretch>
            <a:fillRect/>
          </a:stretch>
        </p:blipFill>
        <p:spPr>
          <a:xfrm>
            <a:off x="6952276" y="3552747"/>
            <a:ext cx="4986670" cy="183228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08B6C6B9-704F-DCB5-51BE-51EDD38358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518" r="29273" b="76838"/>
          <a:stretch>
            <a:fillRect/>
          </a:stretch>
        </p:blipFill>
        <p:spPr>
          <a:xfrm>
            <a:off x="391101" y="3718796"/>
            <a:ext cx="5146158" cy="1500188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7331CFF5-1958-7DBF-6D66-87BA064A8140}"/>
              </a:ext>
            </a:extLst>
          </p:cNvPr>
          <p:cNvSpPr txBox="1"/>
          <p:nvPr/>
        </p:nvSpPr>
        <p:spPr>
          <a:xfrm>
            <a:off x="485199" y="3059668"/>
            <a:ext cx="3233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SHIFT+CTRL+P</a:t>
            </a:r>
          </a:p>
        </p:txBody>
      </p:sp>
      <p:sp>
        <p:nvSpPr>
          <p:cNvPr id="11" name="Flecha: a la derecha 10">
            <a:extLst>
              <a:ext uri="{FF2B5EF4-FFF2-40B4-BE49-F238E27FC236}">
                <a16:creationId xmlns:a16="http://schemas.microsoft.com/office/drawing/2014/main" id="{8658BFB2-78F6-019A-F9AE-5BE6C1A74154}"/>
              </a:ext>
            </a:extLst>
          </p:cNvPr>
          <p:cNvSpPr/>
          <p:nvPr/>
        </p:nvSpPr>
        <p:spPr>
          <a:xfrm>
            <a:off x="5890260" y="4307840"/>
            <a:ext cx="591820" cy="4978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" name="Imagen 12" descr="My Sena: Logotipo del sena">
            <a:extLst>
              <a:ext uri="{FF2B5EF4-FFF2-40B4-BE49-F238E27FC236}">
                <a16:creationId xmlns:a16="http://schemas.microsoft.com/office/drawing/2014/main" id="{3B45B517-7A1A-4AA1-66E5-19E1518A31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4449" y="185270"/>
            <a:ext cx="779930" cy="779930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F3D1F6A6-BACE-5B7A-4D7D-528C0B848F35}"/>
              </a:ext>
            </a:extLst>
          </p:cNvPr>
          <p:cNvSpPr txBox="1"/>
          <p:nvPr/>
        </p:nvSpPr>
        <p:spPr>
          <a:xfrm>
            <a:off x="1009650" y="6488064"/>
            <a:ext cx="10058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CO" dirty="0"/>
              <a:t>Nestor Arias - Instructor</a:t>
            </a:r>
          </a:p>
        </p:txBody>
      </p:sp>
    </p:spTree>
    <p:extLst>
      <p:ext uri="{BB962C8B-B14F-4D97-AF65-F5344CB8AC3E}">
        <p14:creationId xmlns:p14="http://schemas.microsoft.com/office/powerpoint/2010/main" val="2194299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035C69-AAB5-6439-D2AD-7217E6A88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Nombres de </a:t>
            </a:r>
            <a:r>
              <a:rPr lang="es-CO" dirty="0" err="1"/>
              <a:t>Commits</a:t>
            </a:r>
            <a:endParaRPr lang="es-CO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D92AD0F-BB68-6DB3-C58F-33029FB8BE43}"/>
              </a:ext>
            </a:extLst>
          </p:cNvPr>
          <p:cNvSpPr txBox="1"/>
          <p:nvPr/>
        </p:nvSpPr>
        <p:spPr>
          <a:xfrm>
            <a:off x="924560" y="2248257"/>
            <a:ext cx="6324600" cy="332398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CO" sz="1400" dirty="0">
                <a:solidFill>
                  <a:srgbClr val="002060"/>
                </a:solidFill>
              </a:rPr>
              <a:t>DELETE índice innecesario en serialb1e7c53 </a:t>
            </a:r>
            <a:br>
              <a:rPr lang="es-CO" sz="1400" dirty="0">
                <a:solidFill>
                  <a:srgbClr val="002060"/>
                </a:solidFill>
              </a:rPr>
            </a:br>
            <a:r>
              <a:rPr lang="es-CO" sz="1400" dirty="0">
                <a:solidFill>
                  <a:srgbClr val="002060"/>
                </a:solidFill>
              </a:rPr>
              <a:t>DELETE bloque de </a:t>
            </a:r>
            <a:br>
              <a:rPr lang="es-CO" sz="1400" dirty="0">
                <a:solidFill>
                  <a:srgbClr val="002060"/>
                </a:solidFill>
              </a:rPr>
            </a:br>
            <a:r>
              <a:rPr lang="es-CO" sz="1400" dirty="0">
                <a:solidFill>
                  <a:srgbClr val="002060"/>
                </a:solidFill>
              </a:rPr>
              <a:t>INSERT manual4a9f0e8 </a:t>
            </a:r>
            <a:br>
              <a:rPr lang="es-CO" sz="1400" dirty="0">
                <a:solidFill>
                  <a:srgbClr val="002060"/>
                </a:solidFill>
              </a:rPr>
            </a:br>
            <a:r>
              <a:rPr lang="es-CO" sz="1400" dirty="0">
                <a:solidFill>
                  <a:srgbClr val="002060"/>
                </a:solidFill>
              </a:rPr>
              <a:t>DELETE campos redundantes en usuario_rolf0a2d96 </a:t>
            </a:r>
            <a:br>
              <a:rPr lang="es-CO" sz="1400" dirty="0">
                <a:solidFill>
                  <a:srgbClr val="002060"/>
                </a:solidFill>
              </a:rPr>
            </a:br>
            <a:r>
              <a:rPr lang="es-CO" sz="1400" dirty="0">
                <a:solidFill>
                  <a:srgbClr val="002060"/>
                </a:solidFill>
              </a:rPr>
              <a:t>UPDATE seriales </a:t>
            </a:r>
            <a:br>
              <a:rPr lang="es-CO" sz="1400" dirty="0">
                <a:solidFill>
                  <a:srgbClr val="002060"/>
                </a:solidFill>
              </a:rPr>
            </a:br>
            <a:r>
              <a:rPr lang="es-CO" sz="1400" dirty="0">
                <a:solidFill>
                  <a:srgbClr val="002060"/>
                </a:solidFill>
              </a:rPr>
              <a:t>RM a prefijo único9e0a6c8 </a:t>
            </a:r>
            <a:br>
              <a:rPr lang="es-CO" sz="1400" dirty="0">
                <a:solidFill>
                  <a:srgbClr val="002060"/>
                </a:solidFill>
              </a:rPr>
            </a:br>
            <a:r>
              <a:rPr lang="es-CO" sz="1400" dirty="0">
                <a:solidFill>
                  <a:srgbClr val="002060"/>
                </a:solidFill>
              </a:rPr>
              <a:t>ADD </a:t>
            </a:r>
            <a:r>
              <a:rPr lang="es-CO" sz="1400" dirty="0" err="1">
                <a:solidFill>
                  <a:srgbClr val="002060"/>
                </a:solidFill>
              </a:rPr>
              <a:t>InsertPaquetes.sql</a:t>
            </a:r>
            <a:r>
              <a:rPr lang="es-CO" sz="1400" dirty="0">
                <a:solidFill>
                  <a:srgbClr val="002060"/>
                </a:solidFill>
              </a:rPr>
              <a:t> con cajas gaylorb3d7f1e </a:t>
            </a:r>
            <a:br>
              <a:rPr lang="es-CO" sz="1400" dirty="0">
                <a:solidFill>
                  <a:srgbClr val="002060"/>
                </a:solidFill>
              </a:rPr>
            </a:br>
            <a:r>
              <a:rPr lang="es-CO" sz="1400" dirty="0">
                <a:solidFill>
                  <a:srgbClr val="002060"/>
                </a:solidFill>
              </a:rPr>
              <a:t>INSERT 800 clientes del mundoa5c9e2d </a:t>
            </a:r>
          </a:p>
          <a:p>
            <a:r>
              <a:rPr lang="es-CO" sz="1400" dirty="0">
                <a:solidFill>
                  <a:srgbClr val="002060"/>
                </a:solidFill>
              </a:rPr>
              <a:t>UPDATE precio con IVA incluido6e5b1c8 </a:t>
            </a:r>
          </a:p>
          <a:p>
            <a:r>
              <a:rPr lang="es-CO" sz="1400" dirty="0">
                <a:solidFill>
                  <a:srgbClr val="002060"/>
                </a:solidFill>
              </a:rPr>
              <a:t>ADD script CreateDB.sqld9f2e4b </a:t>
            </a:r>
          </a:p>
          <a:p>
            <a:r>
              <a:rPr lang="es-CO" sz="1400" dirty="0">
                <a:solidFill>
                  <a:srgbClr val="002060"/>
                </a:solidFill>
              </a:rPr>
              <a:t>INSERT roles de la aplicación7a3c8d1</a:t>
            </a:r>
          </a:p>
          <a:p>
            <a:r>
              <a:rPr lang="es-CO" sz="1400" dirty="0">
                <a:solidFill>
                  <a:srgbClr val="002060"/>
                </a:solidFill>
              </a:rPr>
              <a:t>CREATE tabla item_venta5d1e7c9 </a:t>
            </a:r>
          </a:p>
          <a:p>
            <a:r>
              <a:rPr lang="es-CO" sz="1400" dirty="0">
                <a:solidFill>
                  <a:srgbClr val="002060"/>
                </a:solidFill>
              </a:rPr>
              <a:t>CREATE tabla productob6a8d4e </a:t>
            </a:r>
          </a:p>
          <a:p>
            <a:r>
              <a:rPr lang="es-CO" sz="1400" dirty="0">
                <a:solidFill>
                  <a:srgbClr val="002060"/>
                </a:solidFill>
              </a:rPr>
              <a:t>CREATE tabla usuario_rol3f7c2b0 </a:t>
            </a:r>
          </a:p>
          <a:p>
            <a:r>
              <a:rPr lang="es-CO" sz="1400" dirty="0">
                <a:solidFill>
                  <a:srgbClr val="002060"/>
                </a:solidFill>
              </a:rPr>
              <a:t>CREATE tabla paquete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D45DA16-BDBB-3BEC-CEA5-D564C459CC40}"/>
              </a:ext>
            </a:extLst>
          </p:cNvPr>
          <p:cNvSpPr txBox="1"/>
          <p:nvPr/>
        </p:nvSpPr>
        <p:spPr>
          <a:xfrm>
            <a:off x="8798560" y="2128411"/>
            <a:ext cx="2736088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CO" dirty="0"/>
              <a:t>RF01 — Página principal (</a:t>
            </a:r>
            <a:r>
              <a:rPr lang="es-CO" dirty="0" err="1"/>
              <a:t>dashboard</a:t>
            </a:r>
            <a:r>
              <a:rPr lang="es-CO" dirty="0"/>
              <a:t>)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3B17192-58C7-3C36-C6FC-72E9CDCC28C1}"/>
              </a:ext>
            </a:extLst>
          </p:cNvPr>
          <p:cNvSpPr txBox="1"/>
          <p:nvPr/>
        </p:nvSpPr>
        <p:spPr>
          <a:xfrm>
            <a:off x="8798560" y="3163837"/>
            <a:ext cx="237744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s-CO" dirty="0"/>
              <a:t>RF02 — Listado paginado por entidad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F78845E-0585-9A29-2CE4-30FBFBA9CE93}"/>
              </a:ext>
            </a:extLst>
          </p:cNvPr>
          <p:cNvSpPr txBox="1"/>
          <p:nvPr/>
        </p:nvSpPr>
        <p:spPr>
          <a:xfrm>
            <a:off x="8798560" y="4206458"/>
            <a:ext cx="237744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s-MX"/>
              <a:t>RF04</a:t>
            </a:r>
            <a:r>
              <a:rPr lang="es-MX" dirty="0"/>
              <a:t> — Creación de registros (Alta)</a:t>
            </a:r>
            <a:endParaRPr lang="es-CO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183752F-D46D-FB6F-A5D9-1DA5F2A1875C}"/>
              </a:ext>
            </a:extLst>
          </p:cNvPr>
          <p:cNvSpPr txBox="1"/>
          <p:nvPr/>
        </p:nvSpPr>
        <p:spPr>
          <a:xfrm>
            <a:off x="8798560" y="5112691"/>
            <a:ext cx="2377440" cy="64633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>
            <a:defPPr>
              <a:defRPr lang="en-US"/>
            </a:defPPr>
            <a:lvl1pPr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s-MX" dirty="0"/>
              <a:t>RF06 — Eliminación de registros (Baja)</a:t>
            </a:r>
            <a:endParaRPr lang="es-CO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E8E4BD2-637F-1987-1991-6EF769F833A9}"/>
              </a:ext>
            </a:extLst>
          </p:cNvPr>
          <p:cNvSpPr txBox="1"/>
          <p:nvPr/>
        </p:nvSpPr>
        <p:spPr>
          <a:xfrm>
            <a:off x="924560" y="1787942"/>
            <a:ext cx="6847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El historial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FD649FF-4C6A-5F0B-9813-8AABE1EE4B14}"/>
              </a:ext>
            </a:extLst>
          </p:cNvPr>
          <p:cNvSpPr txBox="1"/>
          <p:nvPr/>
        </p:nvSpPr>
        <p:spPr>
          <a:xfrm>
            <a:off x="8625840" y="1367522"/>
            <a:ext cx="2377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Requerimientos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A1F26B5-5741-0C28-0295-BA44E8278CBB}"/>
              </a:ext>
            </a:extLst>
          </p:cNvPr>
          <p:cNvSpPr txBox="1"/>
          <p:nvPr/>
        </p:nvSpPr>
        <p:spPr>
          <a:xfrm>
            <a:off x="3840480" y="6123543"/>
            <a:ext cx="510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¿Cómo se sabe qué </a:t>
            </a:r>
            <a:r>
              <a:rPr lang="es-CO" dirty="0" err="1"/>
              <a:t>commit</a:t>
            </a:r>
            <a:r>
              <a:rPr lang="es-CO" dirty="0"/>
              <a:t> arregla qué cosa?</a:t>
            </a:r>
          </a:p>
        </p:txBody>
      </p:sp>
      <p:pic>
        <p:nvPicPr>
          <p:cNvPr id="13" name="Imagen 12" descr="My Sena: Logotipo del sena">
            <a:extLst>
              <a:ext uri="{FF2B5EF4-FFF2-40B4-BE49-F238E27FC236}">
                <a16:creationId xmlns:a16="http://schemas.microsoft.com/office/drawing/2014/main" id="{BB54A06A-1EE3-0EE8-E98D-F769C0BF6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4449" y="185270"/>
            <a:ext cx="779930" cy="779930"/>
          </a:xfrm>
          <a:prstGeom prst="rect">
            <a:avLst/>
          </a:prstGeom>
        </p:spPr>
      </p:pic>
      <p:sp>
        <p:nvSpPr>
          <p:cNvPr id="15" name="CuadroTexto 14">
            <a:extLst>
              <a:ext uri="{FF2B5EF4-FFF2-40B4-BE49-F238E27FC236}">
                <a16:creationId xmlns:a16="http://schemas.microsoft.com/office/drawing/2014/main" id="{44CE165A-CDCE-644F-146E-2334D04B9CC0}"/>
              </a:ext>
            </a:extLst>
          </p:cNvPr>
          <p:cNvSpPr txBox="1"/>
          <p:nvPr/>
        </p:nvSpPr>
        <p:spPr>
          <a:xfrm>
            <a:off x="1009650" y="6488064"/>
            <a:ext cx="10058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CO" dirty="0"/>
              <a:t>Nestor Arias - Instructor</a:t>
            </a:r>
          </a:p>
        </p:txBody>
      </p:sp>
    </p:spTree>
    <p:extLst>
      <p:ext uri="{BB962C8B-B14F-4D97-AF65-F5344CB8AC3E}">
        <p14:creationId xmlns:p14="http://schemas.microsoft.com/office/powerpoint/2010/main" val="2813860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F0C506-2764-D6B9-416D-637FB1E06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Nombres de </a:t>
            </a:r>
            <a:r>
              <a:rPr lang="es-CO" dirty="0" err="1"/>
              <a:t>Commits</a:t>
            </a:r>
            <a:r>
              <a:rPr lang="es-CO" dirty="0"/>
              <a:t>&gt;Enviando un cambio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19B15FF-677D-EDA1-48C5-0A129CDEAD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r="64825" b="44698"/>
          <a:stretch>
            <a:fillRect/>
          </a:stretch>
        </p:blipFill>
        <p:spPr>
          <a:xfrm>
            <a:off x="3452695" y="2093976"/>
            <a:ext cx="3616125" cy="3792682"/>
          </a:xfrm>
          <a:prstGeom prst="rect">
            <a:avLst/>
          </a:prstGeom>
        </p:spPr>
      </p:pic>
      <p:pic>
        <p:nvPicPr>
          <p:cNvPr id="11" name="Imagen 10" descr="My Sena: Logotipo del sena">
            <a:extLst>
              <a:ext uri="{FF2B5EF4-FFF2-40B4-BE49-F238E27FC236}">
                <a16:creationId xmlns:a16="http://schemas.microsoft.com/office/drawing/2014/main" id="{89E327E6-F2B0-0D7D-97AD-1D8FA2A27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4449" y="185270"/>
            <a:ext cx="779930" cy="779930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EDC6B17C-DD31-CD5E-1A0A-3666695F2825}"/>
              </a:ext>
            </a:extLst>
          </p:cNvPr>
          <p:cNvSpPr txBox="1"/>
          <p:nvPr/>
        </p:nvSpPr>
        <p:spPr>
          <a:xfrm>
            <a:off x="1009650" y="6488064"/>
            <a:ext cx="10058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CO" dirty="0"/>
              <a:t>Nestor Arias - Instructor</a:t>
            </a:r>
          </a:p>
        </p:txBody>
      </p:sp>
    </p:spTree>
    <p:extLst>
      <p:ext uri="{BB962C8B-B14F-4D97-AF65-F5344CB8AC3E}">
        <p14:creationId xmlns:p14="http://schemas.microsoft.com/office/powerpoint/2010/main" val="310612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F0C506-2764-D6B9-416D-637FB1E06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Nombres de </a:t>
            </a:r>
            <a:r>
              <a:rPr lang="es-CO" dirty="0" err="1"/>
              <a:t>Commits</a:t>
            </a:r>
            <a:r>
              <a:rPr lang="es-CO" dirty="0"/>
              <a:t>&gt;Enviando un cambio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34A97BB-BB92-0F0D-E57A-D63C5C1355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042" b="48459"/>
          <a:stretch>
            <a:fillRect/>
          </a:stretch>
        </p:blipFill>
        <p:spPr>
          <a:xfrm>
            <a:off x="727275" y="2088572"/>
            <a:ext cx="4374661" cy="358486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04261BE-257F-03B6-75EA-923D2A3E051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37" r="23586" b="45303"/>
          <a:stretch>
            <a:fillRect/>
          </a:stretch>
        </p:blipFill>
        <p:spPr>
          <a:xfrm>
            <a:off x="6096000" y="1922318"/>
            <a:ext cx="5579918" cy="3751118"/>
          </a:xfrm>
          <a:prstGeom prst="rect">
            <a:avLst/>
          </a:prstGeom>
        </p:spPr>
      </p:pic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93E90E44-242F-1ABA-4B9F-E365DB7990BF}"/>
              </a:ext>
            </a:extLst>
          </p:cNvPr>
          <p:cNvSpPr/>
          <p:nvPr/>
        </p:nvSpPr>
        <p:spPr>
          <a:xfrm>
            <a:off x="5330536" y="3595255"/>
            <a:ext cx="540328" cy="5299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0" name="Imagen 9" descr="My Sena: Logotipo del sena">
            <a:extLst>
              <a:ext uri="{FF2B5EF4-FFF2-40B4-BE49-F238E27FC236}">
                <a16:creationId xmlns:a16="http://schemas.microsoft.com/office/drawing/2014/main" id="{362654D3-2CEF-47B0-B7D1-A9D134490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4449" y="185270"/>
            <a:ext cx="779930" cy="779930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E3A22376-5A14-7C03-0257-9C43D6298DBC}"/>
              </a:ext>
            </a:extLst>
          </p:cNvPr>
          <p:cNvSpPr txBox="1"/>
          <p:nvPr/>
        </p:nvSpPr>
        <p:spPr>
          <a:xfrm>
            <a:off x="1009650" y="6488064"/>
            <a:ext cx="10058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CO" dirty="0"/>
              <a:t>Nestor Arias - Instructor</a:t>
            </a:r>
          </a:p>
        </p:txBody>
      </p:sp>
    </p:spTree>
    <p:extLst>
      <p:ext uri="{BB962C8B-B14F-4D97-AF65-F5344CB8AC3E}">
        <p14:creationId xmlns:p14="http://schemas.microsoft.com/office/powerpoint/2010/main" val="4191048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F0C506-2764-D6B9-416D-637FB1E06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Nombres de </a:t>
            </a:r>
            <a:r>
              <a:rPr lang="es-CO" dirty="0" err="1"/>
              <a:t>Commits</a:t>
            </a:r>
            <a:r>
              <a:rPr lang="es-CO" dirty="0"/>
              <a:t>&gt;Enviando un cambio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41CCE21-B226-29F4-A8DE-9DF4217FF8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9069" b="43788"/>
          <a:stretch>
            <a:fillRect/>
          </a:stretch>
        </p:blipFill>
        <p:spPr>
          <a:xfrm>
            <a:off x="1683238" y="1963882"/>
            <a:ext cx="3179707" cy="385502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065C01B5-1B8C-A48D-8A40-183C09AD62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052" y="2904259"/>
            <a:ext cx="5010150" cy="1485900"/>
          </a:xfrm>
          <a:prstGeom prst="rect">
            <a:avLst/>
          </a:prstGeom>
        </p:spPr>
      </p:pic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B3906554-0E74-71A7-CFC3-734E7EA6C11E}"/>
              </a:ext>
            </a:extLst>
          </p:cNvPr>
          <p:cNvSpPr/>
          <p:nvPr/>
        </p:nvSpPr>
        <p:spPr>
          <a:xfrm>
            <a:off x="5141334" y="3429000"/>
            <a:ext cx="540328" cy="52993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1" name="Imagen 10" descr="My Sena: Logotipo del sena">
            <a:extLst>
              <a:ext uri="{FF2B5EF4-FFF2-40B4-BE49-F238E27FC236}">
                <a16:creationId xmlns:a16="http://schemas.microsoft.com/office/drawing/2014/main" id="{248173F2-89E6-8360-89DD-B7B1A2A4C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4449" y="185270"/>
            <a:ext cx="779930" cy="779930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81E77FE9-0A58-40B5-C3E2-F4CED93C394D}"/>
              </a:ext>
            </a:extLst>
          </p:cNvPr>
          <p:cNvSpPr txBox="1"/>
          <p:nvPr/>
        </p:nvSpPr>
        <p:spPr>
          <a:xfrm>
            <a:off x="1009650" y="6488064"/>
            <a:ext cx="10058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CO" dirty="0"/>
              <a:t>Nestor Arias - Instructor</a:t>
            </a:r>
          </a:p>
        </p:txBody>
      </p:sp>
    </p:spTree>
    <p:extLst>
      <p:ext uri="{BB962C8B-B14F-4D97-AF65-F5344CB8AC3E}">
        <p14:creationId xmlns:p14="http://schemas.microsoft.com/office/powerpoint/2010/main" val="3132042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60EE9C-C2CD-CE6C-9FA8-6F5ACF7DB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Nombres de </a:t>
            </a:r>
            <a:r>
              <a:rPr lang="es-CO" dirty="0" err="1"/>
              <a:t>Commits</a:t>
            </a:r>
            <a:r>
              <a:rPr lang="es-CO" dirty="0"/>
              <a:t>&gt;Nombres sugeridos</a:t>
            </a:r>
          </a:p>
        </p:txBody>
      </p:sp>
      <p:graphicFrame>
        <p:nvGraphicFramePr>
          <p:cNvPr id="4" name="Marcador de contenido 3">
            <a:extLst>
              <a:ext uri="{FF2B5EF4-FFF2-40B4-BE49-F238E27FC236}">
                <a16:creationId xmlns:a16="http://schemas.microsoft.com/office/drawing/2014/main" id="{BEDD294B-CF29-75C8-BD41-8B95F044240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09982273"/>
              </p:ext>
            </p:extLst>
          </p:nvPr>
        </p:nvGraphicFramePr>
        <p:xfrm>
          <a:off x="1069975" y="2120900"/>
          <a:ext cx="10058399" cy="3754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1730618614"/>
                    </a:ext>
                  </a:extLst>
                </a:gridCol>
                <a:gridCol w="1037424">
                  <a:extLst>
                    <a:ext uri="{9D8B030D-6E8A-4147-A177-3AD203B41FA5}">
                      <a16:colId xmlns:a16="http://schemas.microsoft.com/office/drawing/2014/main" val="2970207448"/>
                    </a:ext>
                  </a:extLst>
                </a:gridCol>
                <a:gridCol w="3070970">
                  <a:extLst>
                    <a:ext uri="{9D8B030D-6E8A-4147-A177-3AD203B41FA5}">
                      <a16:colId xmlns:a16="http://schemas.microsoft.com/office/drawing/2014/main" val="3394549187"/>
                    </a:ext>
                  </a:extLst>
                </a:gridCol>
                <a:gridCol w="3435405">
                  <a:extLst>
                    <a:ext uri="{9D8B030D-6E8A-4147-A177-3AD203B41FA5}">
                      <a16:colId xmlns:a16="http://schemas.microsoft.com/office/drawing/2014/main" val="9366402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Tipo de cambio</a:t>
                      </a:r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Prefijo</a:t>
                      </a:r>
                    </a:p>
                  </a:txBody>
                  <a:tcPr marL="87464" marR="87464"/>
                </a:tc>
                <a:tc gridSpan="2">
                  <a:txBody>
                    <a:bodyPr/>
                    <a:lstStyle/>
                    <a:p>
                      <a:r>
                        <a:rPr lang="es-CO" dirty="0"/>
                        <a:t>Ejemplos</a:t>
                      </a:r>
                    </a:p>
                  </a:txBody>
                  <a:tcPr marL="87464" marR="87464"/>
                </a:tc>
                <a:tc hMerge="1">
                  <a:txBody>
                    <a:bodyPr/>
                    <a:lstStyle/>
                    <a:p>
                      <a:endParaRPr lang="es-CO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5754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Característica nueva</a:t>
                      </a:r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feat</a:t>
                      </a:r>
                      <a:endParaRPr lang="es-CO" dirty="0"/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feat</a:t>
                      </a:r>
                      <a:r>
                        <a:rPr lang="es-CO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Repositorio inicial</a:t>
                      </a:r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feat</a:t>
                      </a:r>
                      <a:r>
                        <a:rPr lang="es-CO" dirty="0"/>
                        <a:t>: RF06 implementado/compila, pero faltan ajustes</a:t>
                      </a:r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32511211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Corrección de Errores</a:t>
                      </a:r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bugfix</a:t>
                      </a:r>
                      <a:endParaRPr lang="es-CO" dirty="0"/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bugfix</a:t>
                      </a:r>
                      <a:r>
                        <a:rPr lang="es-CO" dirty="0"/>
                        <a:t>: Error al borrar las cookies</a:t>
                      </a:r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bugfix</a:t>
                      </a:r>
                      <a:r>
                        <a:rPr lang="es-CO" dirty="0"/>
                        <a:t>: RF07 se estaba mostrando una columna id en muebles.</a:t>
                      </a:r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3955919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Cambios para liberación</a:t>
                      </a:r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release</a:t>
                      </a:r>
                      <a:endParaRPr lang="es-CO" dirty="0"/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release</a:t>
                      </a:r>
                      <a:r>
                        <a:rPr lang="es-CO" dirty="0"/>
                        <a:t>: Segundo pago</a:t>
                      </a:r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Release</a:t>
                      </a:r>
                      <a:r>
                        <a:rPr lang="es-CO" dirty="0"/>
                        <a:t>: RF08 Probado y listo para enviar a </a:t>
                      </a:r>
                      <a:r>
                        <a:rPr lang="es-CO" dirty="0" err="1"/>
                        <a:t>main</a:t>
                      </a:r>
                      <a:r>
                        <a:rPr lang="es-CO" dirty="0"/>
                        <a:t>.</a:t>
                      </a:r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32039770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O" dirty="0"/>
                        <a:t>Arreglos en caliente (fuera del horario o periodicidad normal)</a:t>
                      </a:r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hotfix</a:t>
                      </a:r>
                      <a:endParaRPr lang="es-CO" dirty="0"/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hotfix</a:t>
                      </a:r>
                      <a:r>
                        <a:rPr lang="es-CO" dirty="0"/>
                        <a:t>: Se garantiza compatibilidad con </a:t>
                      </a:r>
                      <a:r>
                        <a:rPr lang="es-CO" dirty="0" err="1"/>
                        <a:t>Jquery</a:t>
                      </a:r>
                      <a:endParaRPr lang="es-CO" dirty="0"/>
                    </a:p>
                  </a:txBody>
                  <a:tcPr marL="87464" marR="87464"/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hotfix</a:t>
                      </a:r>
                      <a:r>
                        <a:rPr lang="es-CO" dirty="0"/>
                        <a:t>: RF09 fallaba con el mensaje “</a:t>
                      </a:r>
                      <a:r>
                        <a:rPr lang="es-CO" dirty="0" err="1"/>
                        <a:t>Index</a:t>
                      </a:r>
                      <a:r>
                        <a:rPr lang="es-CO" dirty="0"/>
                        <a:t> </a:t>
                      </a:r>
                      <a:r>
                        <a:rPr lang="es-CO" dirty="0" err="1"/>
                        <a:t>not</a:t>
                      </a:r>
                      <a:r>
                        <a:rPr lang="es-CO" dirty="0"/>
                        <a:t> </a:t>
                      </a:r>
                      <a:r>
                        <a:rPr lang="es-CO" dirty="0" err="1"/>
                        <a:t>found</a:t>
                      </a:r>
                      <a:r>
                        <a:rPr lang="es-CO" dirty="0"/>
                        <a:t>”</a:t>
                      </a:r>
                    </a:p>
                  </a:txBody>
                  <a:tcPr marL="87464" marR="87464"/>
                </a:tc>
                <a:extLst>
                  <a:ext uri="{0D108BD9-81ED-4DB2-BD59-A6C34878D82A}">
                    <a16:rowId xmlns:a16="http://schemas.microsoft.com/office/drawing/2014/main" val="1579185881"/>
                  </a:ext>
                </a:extLst>
              </a:tr>
            </a:tbl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4D09E09A-B2B6-7F14-C818-49ADBA4B6C66}"/>
              </a:ext>
            </a:extLst>
          </p:cNvPr>
          <p:cNvSpPr txBox="1"/>
          <p:nvPr/>
        </p:nvSpPr>
        <p:spPr>
          <a:xfrm>
            <a:off x="838200" y="5846544"/>
            <a:ext cx="1003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Cada cambio debe indicar qué RF, RNF, HU, ET, Error implementa o soluciona</a:t>
            </a:r>
          </a:p>
        </p:txBody>
      </p:sp>
      <p:pic>
        <p:nvPicPr>
          <p:cNvPr id="8" name="Imagen 7" descr="My Sena: Logotipo del sena">
            <a:extLst>
              <a:ext uri="{FF2B5EF4-FFF2-40B4-BE49-F238E27FC236}">
                <a16:creationId xmlns:a16="http://schemas.microsoft.com/office/drawing/2014/main" id="{BE67420B-A8BC-7A5F-559D-A29D50E6D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4449" y="185270"/>
            <a:ext cx="779930" cy="77993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7FDF9CDB-460B-8249-1611-CA982121B49B}"/>
              </a:ext>
            </a:extLst>
          </p:cNvPr>
          <p:cNvSpPr txBox="1"/>
          <p:nvPr/>
        </p:nvSpPr>
        <p:spPr>
          <a:xfrm>
            <a:off x="1009650" y="6488064"/>
            <a:ext cx="10058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CO" dirty="0"/>
              <a:t>Nestor Arias - Instructor</a:t>
            </a:r>
          </a:p>
        </p:txBody>
      </p:sp>
    </p:spTree>
    <p:extLst>
      <p:ext uri="{BB962C8B-B14F-4D97-AF65-F5344CB8AC3E}">
        <p14:creationId xmlns:p14="http://schemas.microsoft.com/office/powerpoint/2010/main" val="2870487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B52688-B340-D8FD-0EFF-6ED77C000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Nombres de </a:t>
            </a:r>
            <a:r>
              <a:rPr lang="es-CO" dirty="0" err="1"/>
              <a:t>Commits</a:t>
            </a:r>
            <a:r>
              <a:rPr lang="es-CO" dirty="0"/>
              <a:t>&gt;Ejercicio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7CB607C-9D68-884D-518B-618272B732B6}"/>
              </a:ext>
            </a:extLst>
          </p:cNvPr>
          <p:cNvSpPr txBox="1"/>
          <p:nvPr/>
        </p:nvSpPr>
        <p:spPr>
          <a:xfrm>
            <a:off x="965200" y="1879600"/>
            <a:ext cx="109016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Coloque el siguiente código en el archivo </a:t>
            </a:r>
          </a:p>
          <a:p>
            <a:r>
              <a:rPr lang="es-CO" dirty="0" err="1"/>
              <a:t>src</a:t>
            </a:r>
            <a:r>
              <a:rPr lang="es-CO" dirty="0"/>
              <a:t>/</a:t>
            </a:r>
            <a:r>
              <a:rPr lang="es-CO" dirty="0" err="1"/>
              <a:t>docs</a:t>
            </a:r>
            <a:r>
              <a:rPr lang="es-CO" dirty="0"/>
              <a:t>/</a:t>
            </a:r>
            <a:r>
              <a:rPr lang="es-CO" dirty="0" err="1"/>
              <a:t>layout</a:t>
            </a:r>
            <a:r>
              <a:rPr lang="es-CO" dirty="0"/>
              <a:t>/</a:t>
            </a:r>
            <a:r>
              <a:rPr lang="es-CO" dirty="0" err="1"/>
              <a:t>header.php</a:t>
            </a:r>
            <a:r>
              <a:rPr lang="es-CO" dirty="0"/>
              <a:t> (líneas 74-78)</a:t>
            </a:r>
            <a:br>
              <a:rPr lang="es-CO" dirty="0"/>
            </a:br>
            <a:r>
              <a:rPr lang="es-CO" dirty="0"/>
              <a:t>Agregue el archivo en ejercicios/comit1/</a:t>
            </a:r>
            <a:r>
              <a:rPr lang="es-CO" dirty="0" err="1"/>
              <a:t>acerca.php</a:t>
            </a:r>
            <a:r>
              <a:rPr lang="es-CO" dirty="0"/>
              <a:t> al directorio </a:t>
            </a:r>
            <a:r>
              <a:rPr lang="es-CO" dirty="0" err="1"/>
              <a:t>src</a:t>
            </a:r>
            <a:r>
              <a:rPr lang="es-CO" dirty="0"/>
              <a:t>/</a:t>
            </a:r>
            <a:r>
              <a:rPr lang="es-CO" dirty="0" err="1"/>
              <a:t>httdocs</a:t>
            </a:r>
            <a:endParaRPr lang="es-CO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7417A23-3851-8029-49AE-1103E6A0ABEA}"/>
              </a:ext>
            </a:extLst>
          </p:cNvPr>
          <p:cNvSpPr txBox="1"/>
          <p:nvPr/>
        </p:nvSpPr>
        <p:spPr>
          <a:xfrm>
            <a:off x="838200" y="2926080"/>
            <a:ext cx="1090168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dirty="0"/>
              <a:t>                &lt;</a:t>
            </a:r>
            <a:r>
              <a:rPr lang="es-CO" dirty="0" err="1"/>
              <a:t>li</a:t>
            </a:r>
            <a:r>
              <a:rPr lang="es-CO" dirty="0"/>
              <a:t> </a:t>
            </a:r>
            <a:r>
              <a:rPr lang="es-CO" dirty="0" err="1"/>
              <a:t>class</a:t>
            </a:r>
            <a:r>
              <a:rPr lang="es-CO" dirty="0"/>
              <a:t>="</a:t>
            </a:r>
            <a:r>
              <a:rPr lang="es-CO" dirty="0" err="1"/>
              <a:t>nav-item</a:t>
            </a:r>
            <a:r>
              <a:rPr lang="es-CO" dirty="0"/>
              <a:t>"&gt;</a:t>
            </a:r>
          </a:p>
          <a:p>
            <a:r>
              <a:rPr lang="es-CO" dirty="0"/>
              <a:t>                    &lt;a </a:t>
            </a:r>
            <a:r>
              <a:rPr lang="es-CO" dirty="0" err="1"/>
              <a:t>class</a:t>
            </a:r>
            <a:r>
              <a:rPr lang="es-CO" dirty="0"/>
              <a:t>="</a:t>
            </a:r>
            <a:r>
              <a:rPr lang="es-CO" dirty="0" err="1"/>
              <a:t>nav</a:t>
            </a:r>
            <a:r>
              <a:rPr lang="es-CO" dirty="0"/>
              <a:t>-link &lt;?</a:t>
            </a:r>
            <a:r>
              <a:rPr lang="es-CO" dirty="0" err="1"/>
              <a:t>php</a:t>
            </a:r>
            <a:r>
              <a:rPr lang="es-CO" dirty="0"/>
              <a:t> echo $</a:t>
            </a:r>
            <a:r>
              <a:rPr lang="es-CO" dirty="0" err="1"/>
              <a:t>current</a:t>
            </a:r>
            <a:r>
              <a:rPr lang="es-CO" dirty="0"/>
              <a:t> === 'acerca' ? 'active' : ''; ?&gt;" </a:t>
            </a:r>
            <a:r>
              <a:rPr lang="es-CO" dirty="0" err="1"/>
              <a:t>href</a:t>
            </a:r>
            <a:r>
              <a:rPr lang="es-CO" dirty="0"/>
              <a:t>="</a:t>
            </a:r>
            <a:r>
              <a:rPr lang="es-CO" dirty="0" err="1"/>
              <a:t>acerca.php</a:t>
            </a:r>
            <a:r>
              <a:rPr lang="es-CO" dirty="0"/>
              <a:t>"&gt;</a:t>
            </a:r>
          </a:p>
          <a:p>
            <a:r>
              <a:rPr lang="es-CO" dirty="0"/>
              <a:t>                        &lt;i </a:t>
            </a:r>
            <a:r>
              <a:rPr lang="es-CO" dirty="0" err="1"/>
              <a:t>class</a:t>
            </a:r>
            <a:r>
              <a:rPr lang="es-CO" dirty="0"/>
              <a:t>="</a:t>
            </a:r>
            <a:r>
              <a:rPr lang="es-CO" dirty="0" err="1"/>
              <a:t>bi</a:t>
            </a:r>
            <a:r>
              <a:rPr lang="es-CO" dirty="0"/>
              <a:t> </a:t>
            </a:r>
            <a:r>
              <a:rPr lang="es-CO" dirty="0" err="1"/>
              <a:t>bi-info-circle</a:t>
            </a:r>
            <a:r>
              <a:rPr lang="es-CO" dirty="0"/>
              <a:t> me-1"&gt;&lt;/i&gt;Acerca de</a:t>
            </a:r>
          </a:p>
          <a:p>
            <a:r>
              <a:rPr lang="es-CO" dirty="0"/>
              <a:t>                    &lt;/a&gt;</a:t>
            </a:r>
          </a:p>
          <a:p>
            <a:r>
              <a:rPr lang="es-CO" dirty="0"/>
              <a:t>                &lt;/</a:t>
            </a:r>
            <a:r>
              <a:rPr lang="es-CO" dirty="0" err="1"/>
              <a:t>li</a:t>
            </a:r>
            <a:r>
              <a:rPr lang="es-CO" dirty="0"/>
              <a:t>&gt;</a:t>
            </a:r>
          </a:p>
        </p:txBody>
      </p:sp>
      <p:pic>
        <p:nvPicPr>
          <p:cNvPr id="7" name="Imagen 6" descr="My Sena: Logotipo del sena">
            <a:extLst>
              <a:ext uri="{FF2B5EF4-FFF2-40B4-BE49-F238E27FC236}">
                <a16:creationId xmlns:a16="http://schemas.microsoft.com/office/drawing/2014/main" id="{E4F582D5-8DE8-E69E-2655-A13A73AE4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4449" y="185270"/>
            <a:ext cx="779930" cy="77993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A0161D16-DF47-3E4F-C0FB-E7886E894E95}"/>
              </a:ext>
            </a:extLst>
          </p:cNvPr>
          <p:cNvSpPr txBox="1"/>
          <p:nvPr/>
        </p:nvSpPr>
        <p:spPr>
          <a:xfrm>
            <a:off x="1009650" y="6488064"/>
            <a:ext cx="10058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CO" dirty="0"/>
              <a:t>Nestor Arias - Instructor</a:t>
            </a:r>
          </a:p>
        </p:txBody>
      </p:sp>
    </p:spTree>
    <p:extLst>
      <p:ext uri="{BB962C8B-B14F-4D97-AF65-F5344CB8AC3E}">
        <p14:creationId xmlns:p14="http://schemas.microsoft.com/office/powerpoint/2010/main" val="36747645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811F3B-B19B-275A-5139-915AE8CBA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Resolviendo Conflictos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05E072C-BE64-0947-01A6-F5ABA86AC1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750" b="7909"/>
          <a:stretch>
            <a:fillRect/>
          </a:stretch>
        </p:blipFill>
        <p:spPr>
          <a:xfrm>
            <a:off x="1432559" y="1517516"/>
            <a:ext cx="9081655" cy="5340484"/>
          </a:xfrm>
          <a:prstGeom prst="rect">
            <a:avLst/>
          </a:prstGeom>
        </p:spPr>
      </p:pic>
      <p:pic>
        <p:nvPicPr>
          <p:cNvPr id="11" name="Imagen 10" descr="My Sena: Logotipo del sena">
            <a:extLst>
              <a:ext uri="{FF2B5EF4-FFF2-40B4-BE49-F238E27FC236}">
                <a16:creationId xmlns:a16="http://schemas.microsoft.com/office/drawing/2014/main" id="{60353EF6-B548-85BC-E6D3-92C2EF44DF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4449" y="185270"/>
            <a:ext cx="779930" cy="779930"/>
          </a:xfrm>
          <a:prstGeom prst="rect">
            <a:avLst/>
          </a:prstGeom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EE6A0C11-4F5A-63ED-03CF-F26D0F507BED}"/>
              </a:ext>
            </a:extLst>
          </p:cNvPr>
          <p:cNvSpPr txBox="1"/>
          <p:nvPr/>
        </p:nvSpPr>
        <p:spPr>
          <a:xfrm>
            <a:off x="1009650" y="6488064"/>
            <a:ext cx="10058400" cy="369332"/>
          </a:xfrm>
          <a:prstGeom prst="rect">
            <a:avLst/>
          </a:prstGeom>
          <a:solidFill>
            <a:srgbClr val="92D050"/>
          </a:solidFill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s-CO" dirty="0"/>
              <a:t>Nestor Arias - Instructor</a:t>
            </a:r>
          </a:p>
        </p:txBody>
      </p:sp>
    </p:spTree>
    <p:extLst>
      <p:ext uri="{BB962C8B-B14F-4D97-AF65-F5344CB8AC3E}">
        <p14:creationId xmlns:p14="http://schemas.microsoft.com/office/powerpoint/2010/main" val="511984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811F3B-B19B-275A-5139-915AE8CBA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Resolviendo Conflictos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F2B6277-8AB1-170B-CE13-5CEC8AE77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887" b="50000"/>
          <a:stretch>
            <a:fillRect/>
          </a:stretch>
        </p:blipFill>
        <p:spPr>
          <a:xfrm>
            <a:off x="1080654" y="2357609"/>
            <a:ext cx="7938655" cy="335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4513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Letras en madera">
  <a:themeElements>
    <a:clrScheme name="Letras en madera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Letras en madera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Letras en madera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Letras en madera</Template>
  <TotalTime>188</TotalTime>
  <Words>512</Words>
  <Application>Microsoft Office PowerPoint</Application>
  <PresentationFormat>Panorámica</PresentationFormat>
  <Paragraphs>103</Paragraphs>
  <Slides>13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Aptos Narrow</vt:lpstr>
      <vt:lpstr>Arial Unicode MS</vt:lpstr>
      <vt:lpstr>Rockwell</vt:lpstr>
      <vt:lpstr>Rockwell Condensed</vt:lpstr>
      <vt:lpstr>Wingdings</vt:lpstr>
      <vt:lpstr>Letras en madera</vt:lpstr>
      <vt:lpstr>Todo lo que siempre quiso saber de Git</vt:lpstr>
      <vt:lpstr>Ejercicio</vt:lpstr>
      <vt:lpstr>Cambiando de Rama</vt:lpstr>
      <vt:lpstr>Cambiando de Rama &gt; Ejercicio</vt:lpstr>
      <vt:lpstr>Cambiando de Rama &gt; Ejercicio 2</vt:lpstr>
      <vt:lpstr>Nombres de Commits</vt:lpstr>
      <vt:lpstr>Nombres de Commits&gt;Enviando un cambio</vt:lpstr>
      <vt:lpstr>Nombres de Commits&gt;Enviando un cambio</vt:lpstr>
      <vt:lpstr>Nombres de Commits&gt;Enviando un cambio</vt:lpstr>
      <vt:lpstr>Nombres de Commits&gt;Nombres sugeridos</vt:lpstr>
      <vt:lpstr>Nombres de Commits&gt;Ejercicio</vt:lpstr>
      <vt:lpstr>Resolviendo Conflictos</vt:lpstr>
      <vt:lpstr>Resolviendo Conflictos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Nestor Arias</dc:creator>
  <cp:lastModifiedBy>Nestor Arias</cp:lastModifiedBy>
  <cp:revision>2</cp:revision>
  <dcterms:created xsi:type="dcterms:W3CDTF">2026-09-18T12:23:49Z</dcterms:created>
  <dcterms:modified xsi:type="dcterms:W3CDTF">2026-09-18T15:32:49Z</dcterms:modified>
</cp:coreProperties>
</file>